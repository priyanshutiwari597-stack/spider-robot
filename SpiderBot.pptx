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4" r:id="rId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 panose="020F050202020403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4E52D1-A93C-4AF4-898B-742F16B0237A}" v="17" dt="2025-10-25T18:44:30.612"/>
  </p1510:revLst>
</p1510:revInfo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22856643-5BC3-929C-3618-D6C9595E5EEE}"/>
    <pc:docChg chg="modSld">
      <pc:chgData name="" userId="" providerId="" clId="Web-{22856643-5BC3-929C-3618-D6C9595E5EEE}" dt="2025-06-07T12:13:49.533" v="1" actId="20577"/>
      <pc:docMkLst>
        <pc:docMk/>
      </pc:docMkLst>
      <pc:sldChg chg="modSp">
        <pc:chgData name="" userId="" providerId="" clId="Web-{22856643-5BC3-929C-3618-D6C9595E5EEE}" dt="2025-06-07T12:13:49.533" v="1" actId="20577"/>
        <pc:sldMkLst>
          <pc:docMk/>
          <pc:sldMk cId="0" sldId="256"/>
        </pc:sldMkLst>
      </pc:sldChg>
    </pc:docChg>
  </pc:docChgLst>
  <pc:docChgLst>
    <pc:chgData name="Guest User" providerId="Windows Live" clId="Web-{22856643-5BC3-929C-3618-D6C9595E5EEE}"/>
    <pc:docChg chg="modSld">
      <pc:chgData name="Guest User" userId="" providerId="Windows Live" clId="Web-{22856643-5BC3-929C-3618-D6C9595E5EEE}" dt="2025-06-07T12:14:16.971" v="0" actId="20577"/>
      <pc:docMkLst>
        <pc:docMk/>
      </pc:docMkLst>
      <pc:sldChg chg="modSp">
        <pc:chgData name="Guest User" userId="" providerId="Windows Live" clId="Web-{22856643-5BC3-929C-3618-D6C9595E5EEE}" dt="2025-06-07T12:14:16.971" v="0" actId="20577"/>
        <pc:sldMkLst>
          <pc:docMk/>
          <pc:sldMk cId="0" sldId="256"/>
        </pc:sldMkLst>
      </pc:sldChg>
    </pc:docChg>
  </pc:docChgLst>
  <pc:docChgLst>
    <pc:chgData name="priyanshu Tiwari" userId="2ef4b03a84a07251" providerId="LiveId" clId="{D6FD8EC6-AD73-4444-9B5D-2B719512976E}"/>
    <pc:docChg chg="modSld">
      <pc:chgData name="priyanshu Tiwari" userId="2ef4b03a84a07251" providerId="LiveId" clId="{D6FD8EC6-AD73-4444-9B5D-2B719512976E}" dt="2025-10-25T18:44:30.612" v="15"/>
      <pc:docMkLst>
        <pc:docMk/>
      </pc:docMkLst>
      <pc:sldChg chg="modTransition">
        <pc:chgData name="priyanshu Tiwari" userId="2ef4b03a84a07251" providerId="LiveId" clId="{D6FD8EC6-AD73-4444-9B5D-2B719512976E}" dt="2025-10-25T18:44:09.375" v="10"/>
        <pc:sldMkLst>
          <pc:docMk/>
          <pc:sldMk cId="0" sldId="256"/>
        </pc:sldMkLst>
      </pc:sldChg>
      <pc:sldChg chg="modTransition">
        <pc:chgData name="priyanshu Tiwari" userId="2ef4b03a84a07251" providerId="LiveId" clId="{D6FD8EC6-AD73-4444-9B5D-2B719512976E}" dt="2025-10-25T18:44:13.002" v="11"/>
        <pc:sldMkLst>
          <pc:docMk/>
          <pc:sldMk cId="0" sldId="257"/>
        </pc:sldMkLst>
      </pc:sldChg>
      <pc:sldChg chg="addSp modSp modTransition">
        <pc:chgData name="priyanshu Tiwari" userId="2ef4b03a84a07251" providerId="LiveId" clId="{D6FD8EC6-AD73-4444-9B5D-2B719512976E}" dt="2025-10-25T18:44:16.453" v="12"/>
        <pc:sldMkLst>
          <pc:docMk/>
          <pc:sldMk cId="0" sldId="258"/>
        </pc:sldMkLst>
        <pc:picChg chg="add mod">
          <ac:chgData name="priyanshu Tiwari" userId="2ef4b03a84a07251" providerId="LiveId" clId="{D6FD8EC6-AD73-4444-9B5D-2B719512976E}" dt="2025-10-25T18:43:21.339" v="9" actId="931"/>
          <ac:picMkLst>
            <pc:docMk/>
            <pc:sldMk cId="0" sldId="258"/>
            <ac:picMk id="18" creationId="{A61474D5-D2ED-939D-CB90-86CEA1CB88B8}"/>
          </ac:picMkLst>
        </pc:picChg>
      </pc:sldChg>
      <pc:sldChg chg="modTransition">
        <pc:chgData name="priyanshu Tiwari" userId="2ef4b03a84a07251" providerId="LiveId" clId="{D6FD8EC6-AD73-4444-9B5D-2B719512976E}" dt="2025-10-25T18:44:21.283" v="13"/>
        <pc:sldMkLst>
          <pc:docMk/>
          <pc:sldMk cId="0" sldId="259"/>
        </pc:sldMkLst>
      </pc:sldChg>
      <pc:sldChg chg="modTransition">
        <pc:chgData name="priyanshu Tiwari" userId="2ef4b03a84a07251" providerId="LiveId" clId="{D6FD8EC6-AD73-4444-9B5D-2B719512976E}" dt="2025-10-25T18:44:25.470" v="14"/>
        <pc:sldMkLst>
          <pc:docMk/>
          <pc:sldMk cId="0" sldId="260"/>
        </pc:sldMkLst>
      </pc:sldChg>
      <pc:sldChg chg="modTransition">
        <pc:chgData name="priyanshu Tiwari" userId="2ef4b03a84a07251" providerId="LiveId" clId="{D6FD8EC6-AD73-4444-9B5D-2B719512976E}" dt="2025-10-25T18:44:30.612" v="15"/>
        <pc:sldMkLst>
          <pc:docMk/>
          <pc:sldMk cId="0" sldId="26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92" name="Shape 92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1pPr>
    <a:lvl2pPr indent="228600" defTabSz="4572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2pPr>
    <a:lvl3pPr indent="457200" defTabSz="4572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3pPr>
    <a:lvl4pPr indent="685800" defTabSz="4572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4pPr>
    <a:lvl5pPr indent="914400" defTabSz="4572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5pPr>
    <a:lvl6pPr indent="1143000" defTabSz="4572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6pPr>
    <a:lvl7pPr indent="1371600" defTabSz="4572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7pPr>
    <a:lvl8pPr indent="1600200" defTabSz="4572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8pPr>
    <a:lvl9pPr indent="1828800" defTabSz="457200" latinLnBrk="0">
      <a:spcBef>
        <a:spcPts val="400"/>
      </a:spcBef>
      <a:defRPr sz="1200">
        <a:latin typeface="+mj-lt"/>
        <a:ea typeface="+mj-ea"/>
        <a:cs typeface="+mj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914400" y="2130426"/>
            <a:ext cx="10363200" cy="1470027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1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963084" y="4406903"/>
            <a:ext cx="10363201" cy="1362077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t>Title Text</a:t>
            </a:r>
          </a:p>
        </p:txBody>
      </p:sp>
      <p:sp>
        <p:nvSpPr>
          <p:cNvPr id="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63084" y="2906713"/>
            <a:ext cx="103632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40" indent="-320040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9600" y="1535112"/>
            <a:ext cx="5386917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sz="2400" b="1"/>
            </a:lvl1pPr>
            <a:lvl2pPr marL="0" indent="0">
              <a:spcBef>
                <a:spcPts val="500"/>
              </a:spcBef>
              <a:buSzTx/>
              <a:buFontTx/>
              <a:buNone/>
              <a:defRPr sz="2400" b="1"/>
            </a:lvl2pPr>
            <a:lvl3pPr marL="0" indent="0">
              <a:spcBef>
                <a:spcPts val="500"/>
              </a:spcBef>
              <a:buSzTx/>
              <a:buFontTx/>
              <a:buNone/>
              <a:defRPr sz="2400" b="1"/>
            </a:lvl3pPr>
            <a:lvl4pPr marL="0" indent="0">
              <a:spcBef>
                <a:spcPts val="500"/>
              </a:spcBef>
              <a:buSzTx/>
              <a:buFontTx/>
              <a:buNone/>
              <a:defRPr sz="2400" b="1"/>
            </a:lvl4pPr>
            <a:lvl5pPr marL="0" indent="0">
              <a:spcBef>
                <a:spcPts val="500"/>
              </a:spcBef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93367" y="1535111"/>
            <a:ext cx="5389036" cy="639765"/>
          </a:xfrm>
          <a:prstGeom prst="rect">
            <a:avLst/>
          </a:prstGeom>
        </p:spPr>
        <p:txBody>
          <a:bodyPr anchor="b"/>
          <a:lstStyle/>
          <a:p>
            <a:endParaRPr/>
          </a:p>
        </p:txBody>
      </p:sp>
      <p:sp>
        <p:nvSpPr>
          <p:cNvPr id="5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609601" y="273050"/>
            <a:ext cx="4011086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7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4766733" y="273053"/>
            <a:ext cx="6815667" cy="5853113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21"/>
          </p:nvPr>
        </p:nvSpPr>
        <p:spPr>
          <a:xfrm>
            <a:off x="609601" y="1435103"/>
            <a:ext cx="4011086" cy="4691063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2389715" y="4800600"/>
            <a:ext cx="7315202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t>Title Text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2389715" y="612775"/>
            <a:ext cx="73152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2389715" y="5367337"/>
            <a:ext cx="73152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609600" y="-47625"/>
            <a:ext cx="10972800" cy="1143000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609600" y="1095375"/>
            <a:ext cx="10972800" cy="5030788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308747" y="6404296"/>
            <a:ext cx="273654" cy="269239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transition spd="med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1pPr>
      <a:lvl2pPr marL="783590" marR="0" indent="-32639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–"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»"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7pPr>
      <a:lvl8pPr marL="35661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8pPr>
      <a:lvl9pPr marL="4023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 panose="020B0604020202020204"/>
        <a:buChar char="•"/>
        <a:defRPr sz="3200" b="0" i="0" u="none" strike="noStrike" cap="none" spc="0" baseline="0">
          <a:solidFill>
            <a:srgbClr val="000000"/>
          </a:solidFill>
          <a:uFillTx/>
          <a:latin typeface="TradeGothic"/>
          <a:ea typeface="TradeGothic"/>
          <a:cs typeface="TradeGothic"/>
          <a:sym typeface="TradeGothic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radeGothic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4"/>
          <p:cNvSpPr/>
          <p:nvPr/>
        </p:nvSpPr>
        <p:spPr>
          <a:xfrm>
            <a:off x="1524000" y="0"/>
            <a:ext cx="9144000" cy="6858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5" name="Freeform: Shape 26"/>
          <p:cNvSpPr/>
          <p:nvPr/>
        </p:nvSpPr>
        <p:spPr>
          <a:xfrm>
            <a:off x="6384490" y="908670"/>
            <a:ext cx="4638605" cy="51549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3" h="21600" extrusionOk="0">
                <a:moveTo>
                  <a:pt x="1264" y="13095"/>
                </a:moveTo>
                <a:cubicBezTo>
                  <a:pt x="1264" y="13095"/>
                  <a:pt x="1264" y="13095"/>
                  <a:pt x="3126" y="13095"/>
                </a:cubicBezTo>
                <a:cubicBezTo>
                  <a:pt x="3243" y="13095"/>
                  <a:pt x="3355" y="13172"/>
                  <a:pt x="3412" y="13298"/>
                </a:cubicBezTo>
                <a:cubicBezTo>
                  <a:pt x="3412" y="13298"/>
                  <a:pt x="3412" y="13298"/>
                  <a:pt x="4345" y="15232"/>
                </a:cubicBezTo>
                <a:cubicBezTo>
                  <a:pt x="4405" y="15353"/>
                  <a:pt x="4405" y="15507"/>
                  <a:pt x="4345" y="15628"/>
                </a:cubicBezTo>
                <a:cubicBezTo>
                  <a:pt x="4345" y="15628"/>
                  <a:pt x="4345" y="15628"/>
                  <a:pt x="3412" y="17563"/>
                </a:cubicBezTo>
                <a:cubicBezTo>
                  <a:pt x="3355" y="17688"/>
                  <a:pt x="3243" y="17765"/>
                  <a:pt x="3126" y="17765"/>
                </a:cubicBezTo>
                <a:cubicBezTo>
                  <a:pt x="3126" y="17765"/>
                  <a:pt x="3126" y="17765"/>
                  <a:pt x="1264" y="17765"/>
                </a:cubicBezTo>
                <a:cubicBezTo>
                  <a:pt x="1143" y="17765"/>
                  <a:pt x="1035" y="17688"/>
                  <a:pt x="974" y="17563"/>
                </a:cubicBezTo>
                <a:cubicBezTo>
                  <a:pt x="974" y="17563"/>
                  <a:pt x="974" y="17563"/>
                  <a:pt x="45" y="15628"/>
                </a:cubicBezTo>
                <a:cubicBezTo>
                  <a:pt x="-15" y="15507"/>
                  <a:pt x="-15" y="15353"/>
                  <a:pt x="45" y="15232"/>
                </a:cubicBezTo>
                <a:cubicBezTo>
                  <a:pt x="45" y="15232"/>
                  <a:pt x="45" y="15232"/>
                  <a:pt x="974" y="13298"/>
                </a:cubicBezTo>
                <a:cubicBezTo>
                  <a:pt x="1035" y="13172"/>
                  <a:pt x="1143" y="13095"/>
                  <a:pt x="1264" y="13095"/>
                </a:cubicBezTo>
                <a:close/>
                <a:moveTo>
                  <a:pt x="8664" y="2389"/>
                </a:moveTo>
                <a:cubicBezTo>
                  <a:pt x="8664" y="2389"/>
                  <a:pt x="8664" y="2389"/>
                  <a:pt x="9622" y="2389"/>
                </a:cubicBezTo>
                <a:lnTo>
                  <a:pt x="9733" y="2389"/>
                </a:lnTo>
                <a:lnTo>
                  <a:pt x="9840" y="2610"/>
                </a:lnTo>
                <a:cubicBezTo>
                  <a:pt x="9988" y="2917"/>
                  <a:pt x="10161" y="3275"/>
                  <a:pt x="10362" y="3692"/>
                </a:cubicBezTo>
                <a:cubicBezTo>
                  <a:pt x="10454" y="3877"/>
                  <a:pt x="10454" y="4113"/>
                  <a:pt x="10362" y="4298"/>
                </a:cubicBezTo>
                <a:cubicBezTo>
                  <a:pt x="10362" y="4298"/>
                  <a:pt x="10362" y="4298"/>
                  <a:pt x="8933" y="7261"/>
                </a:cubicBezTo>
                <a:cubicBezTo>
                  <a:pt x="8847" y="7453"/>
                  <a:pt x="8674" y="7571"/>
                  <a:pt x="8496" y="7571"/>
                </a:cubicBezTo>
                <a:cubicBezTo>
                  <a:pt x="8496" y="7571"/>
                  <a:pt x="8496" y="7571"/>
                  <a:pt x="5644" y="7571"/>
                </a:cubicBezTo>
                <a:cubicBezTo>
                  <a:pt x="5598" y="7571"/>
                  <a:pt x="5553" y="7564"/>
                  <a:pt x="5510" y="7550"/>
                </a:cubicBezTo>
                <a:lnTo>
                  <a:pt x="5417" y="7503"/>
                </a:lnTo>
                <a:lnTo>
                  <a:pt x="5474" y="7386"/>
                </a:lnTo>
                <a:cubicBezTo>
                  <a:pt x="5984" y="6323"/>
                  <a:pt x="6637" y="4963"/>
                  <a:pt x="7473" y="3222"/>
                </a:cubicBezTo>
                <a:cubicBezTo>
                  <a:pt x="7721" y="2706"/>
                  <a:pt x="8168" y="2389"/>
                  <a:pt x="8664" y="2389"/>
                </a:cubicBezTo>
                <a:close/>
                <a:moveTo>
                  <a:pt x="5475" y="0"/>
                </a:moveTo>
                <a:cubicBezTo>
                  <a:pt x="5475" y="0"/>
                  <a:pt x="5475" y="0"/>
                  <a:pt x="8692" y="0"/>
                </a:cubicBezTo>
                <a:cubicBezTo>
                  <a:pt x="8893" y="0"/>
                  <a:pt x="9088" y="133"/>
                  <a:pt x="9185" y="350"/>
                </a:cubicBezTo>
                <a:cubicBezTo>
                  <a:pt x="9185" y="350"/>
                  <a:pt x="9185" y="350"/>
                  <a:pt x="10050" y="2143"/>
                </a:cubicBezTo>
                <a:lnTo>
                  <a:pt x="10147" y="2345"/>
                </a:lnTo>
                <a:lnTo>
                  <a:pt x="9707" y="2345"/>
                </a:lnTo>
                <a:lnTo>
                  <a:pt x="9550" y="2018"/>
                </a:lnTo>
                <a:cubicBezTo>
                  <a:pt x="8947" y="768"/>
                  <a:pt x="8947" y="768"/>
                  <a:pt x="8947" y="768"/>
                </a:cubicBezTo>
                <a:cubicBezTo>
                  <a:pt x="8860" y="576"/>
                  <a:pt x="8688" y="458"/>
                  <a:pt x="8509" y="458"/>
                </a:cubicBezTo>
                <a:cubicBezTo>
                  <a:pt x="5658" y="458"/>
                  <a:pt x="5658" y="458"/>
                  <a:pt x="5658" y="458"/>
                </a:cubicBezTo>
                <a:cubicBezTo>
                  <a:pt x="5473" y="458"/>
                  <a:pt x="5306" y="576"/>
                  <a:pt x="5214" y="768"/>
                </a:cubicBezTo>
                <a:cubicBezTo>
                  <a:pt x="3791" y="3731"/>
                  <a:pt x="3791" y="3731"/>
                  <a:pt x="3791" y="3731"/>
                </a:cubicBezTo>
                <a:cubicBezTo>
                  <a:pt x="3699" y="3916"/>
                  <a:pt x="3699" y="4152"/>
                  <a:pt x="3791" y="4337"/>
                </a:cubicBezTo>
                <a:cubicBezTo>
                  <a:pt x="5214" y="7300"/>
                  <a:pt x="5214" y="7300"/>
                  <a:pt x="5214" y="7300"/>
                </a:cubicBezTo>
                <a:cubicBezTo>
                  <a:pt x="5260" y="7396"/>
                  <a:pt x="5325" y="7474"/>
                  <a:pt x="5401" y="7527"/>
                </a:cubicBezTo>
                <a:lnTo>
                  <a:pt x="5423" y="7538"/>
                </a:lnTo>
                <a:lnTo>
                  <a:pt x="5307" y="7780"/>
                </a:lnTo>
                <a:lnTo>
                  <a:pt x="5220" y="7960"/>
                </a:lnTo>
                <a:lnTo>
                  <a:pt x="5310" y="8005"/>
                </a:lnTo>
                <a:cubicBezTo>
                  <a:pt x="5358" y="8021"/>
                  <a:pt x="5409" y="8029"/>
                  <a:pt x="5461" y="8029"/>
                </a:cubicBezTo>
                <a:cubicBezTo>
                  <a:pt x="8678" y="8029"/>
                  <a:pt x="8678" y="8029"/>
                  <a:pt x="8678" y="8029"/>
                </a:cubicBezTo>
                <a:cubicBezTo>
                  <a:pt x="8880" y="8029"/>
                  <a:pt x="9074" y="7896"/>
                  <a:pt x="9172" y="7679"/>
                </a:cubicBezTo>
                <a:cubicBezTo>
                  <a:pt x="10783" y="4337"/>
                  <a:pt x="10783" y="4337"/>
                  <a:pt x="10783" y="4337"/>
                </a:cubicBezTo>
                <a:cubicBezTo>
                  <a:pt x="10888" y="4128"/>
                  <a:pt x="10888" y="3862"/>
                  <a:pt x="10783" y="3653"/>
                </a:cubicBezTo>
                <a:cubicBezTo>
                  <a:pt x="10582" y="3235"/>
                  <a:pt x="10406" y="2870"/>
                  <a:pt x="10251" y="2550"/>
                </a:cubicBezTo>
                <a:lnTo>
                  <a:pt x="10173" y="2389"/>
                </a:lnTo>
                <a:lnTo>
                  <a:pt x="10534" y="2389"/>
                </a:lnTo>
                <a:cubicBezTo>
                  <a:pt x="11656" y="2389"/>
                  <a:pt x="13452" y="2389"/>
                  <a:pt x="16324" y="2389"/>
                </a:cubicBezTo>
                <a:cubicBezTo>
                  <a:pt x="16804" y="2389"/>
                  <a:pt x="17267" y="2706"/>
                  <a:pt x="17499" y="3222"/>
                </a:cubicBezTo>
                <a:cubicBezTo>
                  <a:pt x="17499" y="3222"/>
                  <a:pt x="17499" y="3222"/>
                  <a:pt x="21337" y="11181"/>
                </a:cubicBezTo>
                <a:cubicBezTo>
                  <a:pt x="21585" y="11677"/>
                  <a:pt x="21585" y="12312"/>
                  <a:pt x="21337" y="12808"/>
                </a:cubicBezTo>
                <a:cubicBezTo>
                  <a:pt x="21337" y="12808"/>
                  <a:pt x="21337" y="12808"/>
                  <a:pt x="17499" y="20766"/>
                </a:cubicBezTo>
                <a:cubicBezTo>
                  <a:pt x="17267" y="21282"/>
                  <a:pt x="16804" y="21600"/>
                  <a:pt x="16324" y="21600"/>
                </a:cubicBezTo>
                <a:cubicBezTo>
                  <a:pt x="16324" y="21600"/>
                  <a:pt x="16324" y="21600"/>
                  <a:pt x="8664" y="21600"/>
                </a:cubicBezTo>
                <a:cubicBezTo>
                  <a:pt x="8168" y="21600"/>
                  <a:pt x="7721" y="21282"/>
                  <a:pt x="7473" y="20766"/>
                </a:cubicBezTo>
                <a:cubicBezTo>
                  <a:pt x="7473" y="20766"/>
                  <a:pt x="7473" y="20766"/>
                  <a:pt x="3651" y="12808"/>
                </a:cubicBezTo>
                <a:cubicBezTo>
                  <a:pt x="3403" y="12312"/>
                  <a:pt x="3403" y="11677"/>
                  <a:pt x="3651" y="11181"/>
                </a:cubicBezTo>
                <a:cubicBezTo>
                  <a:pt x="3651" y="11181"/>
                  <a:pt x="3651" y="11181"/>
                  <a:pt x="5070" y="8226"/>
                </a:cubicBezTo>
                <a:lnTo>
                  <a:pt x="5190" y="7976"/>
                </a:lnTo>
                <a:lnTo>
                  <a:pt x="5186" y="7974"/>
                </a:lnTo>
                <a:cubicBezTo>
                  <a:pt x="5100" y="7914"/>
                  <a:pt x="5027" y="7826"/>
                  <a:pt x="4975" y="7718"/>
                </a:cubicBezTo>
                <a:cubicBezTo>
                  <a:pt x="4975" y="7718"/>
                  <a:pt x="4975" y="7718"/>
                  <a:pt x="3370" y="4376"/>
                </a:cubicBezTo>
                <a:cubicBezTo>
                  <a:pt x="3266" y="4167"/>
                  <a:pt x="3266" y="3901"/>
                  <a:pt x="3370" y="3692"/>
                </a:cubicBezTo>
                <a:cubicBezTo>
                  <a:pt x="3370" y="3692"/>
                  <a:pt x="3370" y="3692"/>
                  <a:pt x="4975" y="350"/>
                </a:cubicBezTo>
                <a:cubicBezTo>
                  <a:pt x="5079" y="133"/>
                  <a:pt x="5267" y="0"/>
                  <a:pt x="5475" y="0"/>
                </a:cubicBezTo>
                <a:close/>
              </a:path>
            </a:pathLst>
          </a:custGeom>
          <a:solidFill>
            <a:srgbClr val="808080">
              <a:alpha val="15000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96" name="Picture 4" descr="Picture 4"/>
          <p:cNvPicPr>
            <a:picLocks noChangeAspect="1"/>
          </p:cNvPicPr>
          <p:nvPr/>
        </p:nvPicPr>
        <p:blipFill>
          <a:blip r:embed="rId2"/>
          <a:srcRect r="59916"/>
          <a:stretch>
            <a:fillRect/>
          </a:stretch>
        </p:blipFill>
        <p:spPr>
          <a:xfrm>
            <a:off x="7680391" y="2132439"/>
            <a:ext cx="3203511" cy="342624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97" name="Title 7"/>
          <p:cNvSpPr txBox="1">
            <a:spLocks noGrp="1"/>
          </p:cNvSpPr>
          <p:nvPr>
            <p:ph type="ctrTitle"/>
          </p:nvPr>
        </p:nvSpPr>
        <p:spPr>
          <a:xfrm>
            <a:off x="331286" y="-526757"/>
            <a:ext cx="10363201" cy="2076451"/>
          </a:xfrm>
          <a:prstGeom prst="rect">
            <a:avLst/>
          </a:prstGeom>
        </p:spPr>
        <p:txBody>
          <a:bodyPr/>
          <a:lstStyle>
            <a:lvl1pPr>
              <a:defRPr sz="4000" b="1">
                <a:solidFill>
                  <a:srgbClr val="1F497D"/>
                </a:solidFill>
                <a:latin typeface="Garamond"/>
                <a:ea typeface="Garamond"/>
                <a:cs typeface="Garamond"/>
                <a:sym typeface="Garamond"/>
              </a:defRPr>
            </a:lvl1pPr>
          </a:lstStyle>
          <a:p>
            <a:r>
              <a:t>SMART INDIA HACKATHON 2024</a:t>
            </a:r>
          </a:p>
        </p:txBody>
      </p:sp>
      <p:sp>
        <p:nvSpPr>
          <p:cNvPr id="98" name="TextBox 9"/>
          <p:cNvSpPr txBox="1"/>
          <p:nvPr/>
        </p:nvSpPr>
        <p:spPr>
          <a:xfrm>
            <a:off x="377004" y="1340366"/>
            <a:ext cx="8370404" cy="4521835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t">
            <a:spAutoFit/>
          </a:bodyPr>
          <a:lstStyle/>
          <a:p>
            <a:pPr marL="342900" indent="-342900" algn="just">
              <a:lnSpc>
                <a:spcPct val="200000"/>
              </a:lnSpc>
              <a:buSzPct val="100000"/>
              <a:buFont typeface="Arial" panose="020B0604020202020204"/>
              <a:buChar char="•"/>
              <a:defRPr sz="24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/>
              <a:t>Problem</a:t>
            </a:r>
            <a:r>
              <a:t> Statement ID – </a:t>
            </a:r>
            <a:r>
              <a:rPr b="0"/>
              <a:t>SIH1</a:t>
            </a:r>
            <a:r>
              <a:rPr lang="en-US" b="0"/>
              <a:t>527</a:t>
            </a:r>
            <a:endParaRPr b="0"/>
          </a:p>
          <a:p>
            <a:pPr marL="285750" indent="-285750" algn="just">
              <a:lnSpc>
                <a:spcPct val="200000"/>
              </a:lnSpc>
              <a:buSzPct val="100000"/>
              <a:buFont typeface="Arial" panose="020B0604020202020204"/>
              <a:buChar char="•"/>
              <a:defRPr sz="24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Problem Statement Title-</a:t>
            </a:r>
            <a:r>
              <a:rPr lang="en-US"/>
              <a:t> </a:t>
            </a:r>
            <a:r>
              <a:rPr lang="en-US" b="0"/>
              <a:t>Student Innovation</a:t>
            </a:r>
            <a:r>
              <a:rPr sz="2000" b="0">
                <a:latin typeface="+mj-lt"/>
                <a:ea typeface="+mj-ea"/>
                <a:cs typeface="+mj-cs"/>
                <a:sym typeface="Calibri" panose="020F0502020204030204"/>
              </a:rPr>
              <a:t> </a:t>
            </a:r>
            <a:endParaRPr sz="2000"/>
          </a:p>
          <a:p>
            <a:pPr marL="285750" indent="-285750" algn="just">
              <a:lnSpc>
                <a:spcPct val="200000"/>
              </a:lnSpc>
              <a:buSzPct val="100000"/>
              <a:buFont typeface="Arial" panose="020B0604020202020204"/>
              <a:buChar char="•"/>
              <a:defRPr sz="24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Theme- </a:t>
            </a:r>
            <a:r>
              <a:rPr b="0"/>
              <a:t>Disaster Management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 panose="020B0604020202020204"/>
              <a:buChar char="•"/>
              <a:defRPr sz="24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PS Category- </a:t>
            </a:r>
            <a:r>
              <a:rPr lang="en-US" b="0"/>
              <a:t>Hardware</a:t>
            </a:r>
            <a:endParaRPr b="0"/>
          </a:p>
          <a:p>
            <a:pPr marL="285750" indent="-285750" algn="just">
              <a:lnSpc>
                <a:spcPct val="200000"/>
              </a:lnSpc>
              <a:buSzPct val="100000"/>
              <a:buFont typeface="Arial" panose="020B0604020202020204"/>
              <a:buChar char="•"/>
              <a:defRPr sz="24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Team ID- </a:t>
            </a:r>
            <a:r>
              <a:rPr b="0"/>
              <a:t>MITADTSW265</a:t>
            </a:r>
          </a:p>
          <a:p>
            <a:pPr marL="285750" indent="-285750" algn="just">
              <a:lnSpc>
                <a:spcPct val="200000"/>
              </a:lnSpc>
              <a:buSzPct val="100000"/>
              <a:buFont typeface="Arial" panose="020B0604020202020204"/>
              <a:buChar char="•"/>
              <a:defRPr sz="2400" b="1"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t>Team Name (Registered on portal):  </a:t>
            </a:r>
            <a:r>
              <a:rPr b="0"/>
              <a:t>Techies</a:t>
            </a:r>
          </a:p>
        </p:txBody>
      </p:sp>
      <p:pic>
        <p:nvPicPr>
          <p:cNvPr id="99" name="Google Shape;93;p2" descr="Google Shape;93;p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910" y="81374"/>
            <a:ext cx="2246577" cy="114907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02" name="Rectangle 8"/>
          <p:cNvSpPr/>
          <p:nvPr/>
        </p:nvSpPr>
        <p:spPr>
          <a:xfrm>
            <a:off x="-3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03" name="Title 1"/>
          <p:cNvSpPr txBox="1">
            <a:spLocks noGrp="1"/>
          </p:cNvSpPr>
          <p:nvPr>
            <p:ph type="title"/>
          </p:nvPr>
        </p:nvSpPr>
        <p:spPr>
          <a:xfrm>
            <a:off x="182997" y="0"/>
            <a:ext cx="10972801" cy="1143000"/>
          </a:xfrm>
          <a:prstGeom prst="rect">
            <a:avLst/>
          </a:prstGeom>
        </p:spPr>
        <p:txBody>
          <a:bodyPr/>
          <a:lstStyle/>
          <a:p>
            <a:pPr>
              <a:defRPr sz="3200" b="1"/>
            </a:pPr>
            <a:r>
              <a:rPr lang="en-US"/>
              <a:t>SPIDER ROBOT</a:t>
            </a:r>
          </a:p>
        </p:txBody>
      </p:sp>
      <p:sp>
        <p:nvSpPr>
          <p:cNvPr id="104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2" y="6404295"/>
            <a:ext cx="188896" cy="26923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2</a:t>
            </a:fld>
            <a:endParaRPr/>
          </a:p>
        </p:txBody>
      </p:sp>
      <p:grpSp>
        <p:nvGrpSpPr>
          <p:cNvPr id="107" name="Oval 9"/>
          <p:cNvGrpSpPr/>
          <p:nvPr/>
        </p:nvGrpSpPr>
        <p:grpSpPr>
          <a:xfrm>
            <a:off x="329771" y="326571"/>
            <a:ext cx="1363562" cy="733011"/>
            <a:chOff x="0" y="0"/>
            <a:chExt cx="1363561" cy="733010"/>
          </a:xfrm>
        </p:grpSpPr>
        <p:sp>
          <p:nvSpPr>
            <p:cNvPr id="105" name="Oval"/>
            <p:cNvSpPr/>
            <p:nvPr/>
          </p:nvSpPr>
          <p:spPr>
            <a:xfrm>
              <a:off x="0" y="0"/>
              <a:ext cx="1363562" cy="73301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06" name="Techies"/>
            <p:cNvSpPr txBox="1"/>
            <p:nvPr/>
          </p:nvSpPr>
          <p:spPr>
            <a:xfrm>
              <a:off x="263320" y="199961"/>
              <a:ext cx="836920" cy="3330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r>
                <a:t>Techies</a:t>
              </a:r>
            </a:p>
          </p:txBody>
        </p:sp>
      </p:grpSp>
      <p:pic>
        <p:nvPicPr>
          <p:cNvPr id="108" name="Google Shape;93;p2" descr="Google Shape;93;p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910" y="81374"/>
            <a:ext cx="2246577" cy="11490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9" name="TextBox 3"/>
          <p:cNvSpPr txBox="1"/>
          <p:nvPr/>
        </p:nvSpPr>
        <p:spPr>
          <a:xfrm>
            <a:off x="76199" y="1322814"/>
            <a:ext cx="5902038" cy="4521835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>
            <a:spAutoFit/>
          </a:bodyPr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Describe your Idea/ Solution/ Prototype:</a:t>
            </a:r>
          </a:p>
          <a:p>
            <a:pPr>
              <a:defRPr b="1">
                <a:solidFill>
                  <a:srgbClr val="1F497D"/>
                </a:solidFill>
              </a:defRPr>
            </a:pPr>
            <a:endParaRPr/>
          </a:p>
          <a:p>
            <a:r>
              <a:t>Development of </a:t>
            </a:r>
            <a:r>
              <a:rPr b="1"/>
              <a:t>a</a:t>
            </a:r>
            <a:r>
              <a:rPr lang="en-US" b="1"/>
              <a:t> Spider Robot</a:t>
            </a:r>
            <a:r>
              <a:t> with customized application</a:t>
            </a:r>
          </a:p>
          <a:p>
            <a:pPr>
              <a:defRPr b="1"/>
            </a:pPr>
            <a:endParaRPr/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Sophisticated suspension systems have limitations in unsteady, challenging situations, despite their speed and simple control.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Legged spider robotic systems overcome many challenges.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Project uses Arduino Uno R3 microcontroller to control servo motors and ESP32 CAM module for wireless control and information translation.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Legged robots mimic animal-like movement, excelling in terrain navigation compared to wheeled robots.</a:t>
            </a:r>
          </a:p>
          <a:p>
            <a:pPr marL="28575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However, legged robots are more difficult and expensive to produce due to reliance on servo or stepper motors, which are costlier than DC motors used in wheeled robots.</a:t>
            </a:r>
          </a:p>
        </p:txBody>
      </p:sp>
      <p:sp>
        <p:nvSpPr>
          <p:cNvPr id="110" name="TextBox 4"/>
          <p:cNvSpPr txBox="1"/>
          <p:nvPr/>
        </p:nvSpPr>
        <p:spPr>
          <a:xfrm>
            <a:off x="6557818" y="1149150"/>
            <a:ext cx="5412511" cy="2860040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>
            <a:spAutoFit/>
          </a:bodyPr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Problem Resolution:</a:t>
            </a:r>
          </a:p>
          <a:p>
            <a:pPr marL="285750" indent="-285750">
              <a:buSzPct val="100000"/>
              <a:buFont typeface="Calibri" panose="020F0502020204030204"/>
              <a:buChar char="❖"/>
            </a:pPr>
            <a:r>
              <a:t>Difficulty navigating unsteady terrain with wheeled robots.</a:t>
            </a:r>
          </a:p>
          <a:p>
            <a:pPr marL="285750" indent="-285750">
              <a:buSzPct val="100000"/>
              <a:buFont typeface="Calibri" panose="020F0502020204030204"/>
              <a:buChar char="❖"/>
            </a:pPr>
            <a:r>
              <a:t>Advanced suspension systems face limitations on rough surfaces.</a:t>
            </a:r>
          </a:p>
          <a:p>
            <a:pPr marL="285750" indent="-285750">
              <a:buSzPct val="100000"/>
              <a:buFont typeface="Calibri" panose="020F0502020204030204"/>
              <a:buChar char="❖"/>
            </a:pPr>
            <a:r>
              <a:t>Legged robot design is more complex and costly.</a:t>
            </a:r>
          </a:p>
          <a:p>
            <a:pPr marL="285750" indent="-285750">
              <a:buSzPct val="100000"/>
              <a:buFont typeface="Calibri" panose="020F0502020204030204"/>
              <a:buChar char="❖"/>
            </a:pPr>
            <a:r>
              <a:t>High production costs due to expensive servo/stepper motors.</a:t>
            </a:r>
          </a:p>
          <a:p>
            <a:pPr marL="285750" indent="-285750">
              <a:buSzPct val="100000"/>
              <a:buFont typeface="Calibri" panose="020F0502020204030204"/>
              <a:buChar char="❖"/>
            </a:pPr>
            <a:r>
              <a:t>Control and communication challenges in managing legged robot movements.</a:t>
            </a:r>
          </a:p>
        </p:txBody>
      </p:sp>
      <p:sp>
        <p:nvSpPr>
          <p:cNvPr id="111" name="TextBox 7"/>
          <p:cNvSpPr txBox="1"/>
          <p:nvPr/>
        </p:nvSpPr>
        <p:spPr>
          <a:xfrm>
            <a:off x="6557818" y="4046437"/>
            <a:ext cx="5412511" cy="1751965"/>
          </a:xfrm>
          <a:prstGeom prst="rect">
            <a:avLst/>
          </a:prstGeom>
          <a:ln>
            <a:solidFill>
              <a:srgbClr val="000000"/>
            </a:solidFill>
          </a:ln>
        </p:spPr>
        <p:txBody>
          <a:bodyPr lIns="45718" tIns="45718" rIns="45718" bIns="45718">
            <a:spAutoFit/>
          </a:bodyPr>
          <a:lstStyle/>
          <a:p>
            <a:pPr>
              <a:defRPr b="1">
                <a:solidFill>
                  <a:srgbClr val="1F497D"/>
                </a:solidFill>
              </a:defRPr>
            </a:pPr>
            <a:r>
              <a:t>Unique Value Propositions (UVP):</a:t>
            </a:r>
          </a:p>
          <a:p>
            <a:pPr marL="285750" indent="-285750">
              <a:buSzPct val="100000"/>
              <a:buFont typeface="Calibri" panose="020F0502020204030204"/>
              <a:buChar char="❖"/>
            </a:pPr>
            <a:r>
              <a:t>Superior navigation on uneven terrain.</a:t>
            </a:r>
          </a:p>
          <a:p>
            <a:pPr marL="285750" indent="-285750">
              <a:buSzPct val="100000"/>
              <a:buFont typeface="Calibri" panose="020F0502020204030204"/>
              <a:buChar char="❖"/>
            </a:pPr>
            <a:r>
              <a:t>Animal-like, adaptable movement.</a:t>
            </a:r>
          </a:p>
          <a:p>
            <a:pPr marL="285750" indent="-285750">
              <a:buSzPct val="100000"/>
              <a:buFont typeface="Calibri" panose="020F0502020204030204"/>
              <a:buChar char="❖"/>
            </a:pPr>
            <a:r>
              <a:t>Flexible for multi-directional tasks and obstacles.</a:t>
            </a:r>
          </a:p>
          <a:p>
            <a:pPr marL="285750" indent="-285750">
              <a:buSzPct val="100000"/>
              <a:buFont typeface="Calibri" panose="020F0502020204030204"/>
              <a:buChar char="❖"/>
            </a:pPr>
            <a:r>
              <a:t>Wireless remote control for ease of use.</a:t>
            </a:r>
          </a:p>
          <a:p>
            <a:pPr marL="285750" indent="-285750">
              <a:buSzPct val="100000"/>
              <a:buFont typeface="Calibri" panose="020F0502020204030204"/>
              <a:buChar char="❖"/>
            </a:pPr>
            <a:r>
              <a:t>Scalable design for varied applications.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14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15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TECHNICAL APPROACH</a:t>
            </a:r>
          </a:p>
        </p:txBody>
      </p:sp>
      <p:sp>
        <p:nvSpPr>
          <p:cNvPr id="116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2" y="6404295"/>
            <a:ext cx="188896" cy="26923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3</a:t>
            </a:fld>
            <a:endParaRPr/>
          </a:p>
        </p:txBody>
      </p:sp>
      <p:pic>
        <p:nvPicPr>
          <p:cNvPr id="117" name="Google Shape;93;p2" descr="Google Shape;93;p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910" y="81374"/>
            <a:ext cx="2246577" cy="11490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20" name="Oval 10"/>
          <p:cNvGrpSpPr/>
          <p:nvPr/>
        </p:nvGrpSpPr>
        <p:grpSpPr>
          <a:xfrm>
            <a:off x="47831" y="81429"/>
            <a:ext cx="1448232" cy="675491"/>
            <a:chOff x="0" y="0"/>
            <a:chExt cx="1448230" cy="675490"/>
          </a:xfrm>
        </p:grpSpPr>
        <p:sp>
          <p:nvSpPr>
            <p:cNvPr id="118" name="Oval"/>
            <p:cNvSpPr/>
            <p:nvPr/>
          </p:nvSpPr>
          <p:spPr>
            <a:xfrm>
              <a:off x="-1" y="-1"/>
              <a:ext cx="1448232" cy="67549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19" name="Techies"/>
            <p:cNvSpPr txBox="1"/>
            <p:nvPr/>
          </p:nvSpPr>
          <p:spPr>
            <a:xfrm>
              <a:off x="279670" y="171201"/>
              <a:ext cx="888887" cy="33308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r>
                <a:t>Techies</a:t>
              </a:r>
            </a:p>
          </p:txBody>
        </p:sp>
      </p:grpSp>
      <p:sp>
        <p:nvSpPr>
          <p:cNvPr id="121" name="TextBox 3"/>
          <p:cNvSpPr txBox="1"/>
          <p:nvPr/>
        </p:nvSpPr>
        <p:spPr>
          <a:xfrm>
            <a:off x="6600190" y="1230630"/>
            <a:ext cx="5405120" cy="5038090"/>
          </a:xfrm>
          <a:prstGeom prst="rect">
            <a:avLst/>
          </a:prstGeom>
          <a:ln>
            <a:noFill/>
          </a:ln>
        </p:spPr>
        <p:txBody>
          <a:bodyPr lIns="45718" tIns="45718" rIns="45718" bIns="45718">
            <a:noAutofit/>
          </a:bodyPr>
          <a:lstStyle/>
          <a:p>
            <a:pPr>
              <a:defRPr sz="2400" b="1">
                <a:solidFill>
                  <a:srgbClr val="1F497D"/>
                </a:solidFill>
              </a:defRPr>
            </a:pPr>
            <a:r>
              <a:t>Flow Architecture:</a:t>
            </a:r>
          </a:p>
          <a:p>
            <a:pPr>
              <a:defRPr sz="2400" b="1">
                <a:solidFill>
                  <a:srgbClr val="1F497D"/>
                </a:solidFill>
              </a:defRPr>
            </a:pPr>
            <a:endParaRPr/>
          </a:p>
          <a:p>
            <a:pPr>
              <a:defRPr sz="2400" b="1">
                <a:solidFill>
                  <a:srgbClr val="1F497D"/>
                </a:solidFill>
              </a:defRPr>
            </a:pPr>
            <a:endParaRPr/>
          </a:p>
          <a:p>
            <a:pPr>
              <a:defRPr sz="2400" b="1">
                <a:solidFill>
                  <a:srgbClr val="1F497D"/>
                </a:solidFill>
              </a:defRPr>
            </a:pPr>
            <a:endParaRPr/>
          </a:p>
          <a:p>
            <a:pPr>
              <a:defRPr sz="2400" b="1">
                <a:solidFill>
                  <a:srgbClr val="1F497D"/>
                </a:solidFill>
              </a:defRPr>
            </a:pPr>
            <a:endParaRPr/>
          </a:p>
          <a:p>
            <a:pPr>
              <a:defRPr sz="2400" b="1">
                <a:solidFill>
                  <a:srgbClr val="1F497D"/>
                </a:solidFill>
              </a:defRPr>
            </a:pPr>
            <a:endParaRPr/>
          </a:p>
          <a:p>
            <a:pPr>
              <a:defRPr sz="2400" b="1">
                <a:solidFill>
                  <a:srgbClr val="1F497D"/>
                </a:solidFill>
              </a:defRPr>
            </a:pPr>
            <a:endParaRPr/>
          </a:p>
          <a:p>
            <a:pPr>
              <a:defRPr sz="2400" b="1">
                <a:solidFill>
                  <a:srgbClr val="1F497D"/>
                </a:solidFill>
              </a:defRPr>
            </a:pPr>
            <a:endParaRPr/>
          </a:p>
          <a:p>
            <a:pPr>
              <a:defRPr sz="2400" b="1">
                <a:solidFill>
                  <a:srgbClr val="1F497D"/>
                </a:solidFill>
              </a:defRPr>
            </a:pPr>
            <a:endParaRPr/>
          </a:p>
          <a:p>
            <a:pPr>
              <a:defRPr sz="2400" b="1">
                <a:solidFill>
                  <a:srgbClr val="1F497D"/>
                </a:solidFill>
              </a:defRPr>
            </a:pPr>
            <a:endParaRPr/>
          </a:p>
          <a:p>
            <a:pPr>
              <a:defRPr sz="2400" b="1">
                <a:solidFill>
                  <a:srgbClr val="1F497D"/>
                </a:solidFill>
              </a:defRPr>
            </a:pPr>
            <a:endParaRPr/>
          </a:p>
        </p:txBody>
      </p:sp>
      <p:sp>
        <p:nvSpPr>
          <p:cNvPr id="123" name="Text Box 1"/>
          <p:cNvSpPr txBox="1"/>
          <p:nvPr/>
        </p:nvSpPr>
        <p:spPr>
          <a:xfrm>
            <a:off x="152400" y="981075"/>
            <a:ext cx="6196965" cy="5426075"/>
          </a:xfrm>
          <a:prstGeom prst="rect">
            <a:avLst/>
          </a:prstGeom>
          <a:ln w="12700">
            <a:noFill/>
            <a:miter lim="400000"/>
          </a:ln>
        </p:spPr>
        <p:txBody>
          <a:bodyPr lIns="45718" tIns="45718" rIns="45718" bIns="45718">
            <a:noAutofit/>
          </a:bodyPr>
          <a:lstStyle/>
          <a:p>
            <a:pPr>
              <a:defRPr sz="2400" b="1">
                <a:solidFill>
                  <a:srgbClr val="1F497D"/>
                </a:solidFill>
              </a:defRPr>
            </a:pPr>
            <a:r>
              <a:rPr dirty="0"/>
              <a:t>Technologies to be used:</a:t>
            </a:r>
          </a:p>
          <a:p>
            <a:pPr marL="342900" indent="-342900">
              <a:buSzPct val="100000"/>
              <a:buFont typeface="Calibri" panose="020F0502020204030204"/>
              <a:buChar char="❖"/>
              <a:defRPr sz="2000"/>
            </a:pPr>
            <a:endParaRPr dirty="0"/>
          </a:p>
          <a:p>
            <a:pPr marL="342900" indent="-342900">
              <a:buSzPct val="100000"/>
              <a:buFont typeface="Calibri" panose="020F0502020204030204"/>
              <a:buChar char="❖"/>
              <a:defRPr sz="2000"/>
            </a:pPr>
            <a:r>
              <a:rPr dirty="0"/>
              <a:t>Arduino Uno R3: Microcontroller for controlling servo motors.</a:t>
            </a:r>
          </a:p>
          <a:p>
            <a:pPr marL="342900" indent="-342900">
              <a:buSzPct val="100000"/>
              <a:buFont typeface="Calibri" panose="020F0502020204030204"/>
              <a:buChar char="❖"/>
              <a:defRPr sz="2000"/>
            </a:pPr>
            <a:r>
              <a:rPr dirty="0"/>
              <a:t>ESP32 CAM Module: Wireless control and information transmission.</a:t>
            </a:r>
          </a:p>
          <a:p>
            <a:pPr marL="342900" indent="-342900">
              <a:buSzPct val="100000"/>
              <a:buFont typeface="Calibri" panose="020F0502020204030204"/>
              <a:buChar char="❖"/>
              <a:defRPr sz="2000"/>
            </a:pPr>
            <a:r>
              <a:rPr dirty="0"/>
              <a:t>Servo Motors: For precise leg movement and control.</a:t>
            </a:r>
          </a:p>
          <a:p>
            <a:pPr marL="342900" indent="-342900">
              <a:buSzPct val="100000"/>
              <a:buFont typeface="Calibri" panose="020F0502020204030204"/>
              <a:buChar char="❖"/>
              <a:defRPr sz="2000"/>
            </a:pPr>
            <a:r>
              <a:rPr dirty="0"/>
              <a:t>Stepper Motors: Optional for more controlled, accurate movements.</a:t>
            </a:r>
          </a:p>
          <a:p>
            <a:pPr marL="342900" indent="-342900">
              <a:buSzPct val="100000"/>
              <a:buFont typeface="Calibri" panose="020F0502020204030204"/>
              <a:buChar char="❖"/>
              <a:defRPr sz="2000"/>
            </a:pPr>
            <a:r>
              <a:rPr dirty="0"/>
              <a:t>Sensors: For obstacle detection and terrain navigation (e.g., ultrasonic sensors).</a:t>
            </a:r>
          </a:p>
          <a:p>
            <a:pPr marL="342900" indent="-342900">
              <a:buSzPct val="100000"/>
              <a:buFont typeface="Calibri" panose="020F0502020204030204"/>
              <a:buChar char="❖"/>
              <a:defRPr sz="2000"/>
            </a:pPr>
            <a:r>
              <a:rPr dirty="0"/>
              <a:t>Battery Pack: Power supply for the robot’s components.</a:t>
            </a:r>
          </a:p>
          <a:p>
            <a:pPr marL="342900" indent="-342900">
              <a:buSzPct val="100000"/>
              <a:buFont typeface="Calibri" panose="020F0502020204030204"/>
              <a:buChar char="❖"/>
              <a:defRPr sz="2000"/>
            </a:pPr>
            <a:r>
              <a:rPr dirty="0"/>
              <a:t>Wireless Communication Protocols: For remote operation, such as Wi-Fi or Bluetooth.</a:t>
            </a:r>
          </a:p>
          <a:p>
            <a:pPr marL="342900" indent="-342900">
              <a:buSzPct val="100000"/>
              <a:buFont typeface="Calibri" panose="020F0502020204030204"/>
              <a:buChar char="❖"/>
              <a:defRPr sz="2000"/>
            </a:pPr>
            <a:r>
              <a:rPr dirty="0"/>
              <a:t>3D Printing/Mechanical Components: For building the body and legs of the robot.</a:t>
            </a:r>
          </a:p>
        </p:txBody>
      </p:sp>
      <p:sp>
        <p:nvSpPr>
          <p:cNvPr id="2" name="Rounded Rectangle 1"/>
          <p:cNvSpPr/>
          <p:nvPr/>
        </p:nvSpPr>
        <p:spPr>
          <a:xfrm>
            <a:off x="8039735" y="2636881"/>
            <a:ext cx="1819910" cy="716194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ot="0" vertOverflow="overflow" horzOverflow="overflow" vert="horz" wrap="square" lIns="45718" tIns="45718" rIns="45718" bIns="45718" numCol="1" spcCol="38100" rtlCol="0" anchor="ctr" forceAA="0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Arduino </a:t>
            </a:r>
          </a:p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UNO R3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039735" y="1917213"/>
            <a:ext cx="1819910" cy="40674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ot="0" vertOverflow="overflow" horzOverflow="overflow" vert="horz" wrap="square" lIns="45718" tIns="45718" rIns="45718" bIns="45718" numCol="1" spcCol="38100" rtlCol="0" anchor="ctr" forceAA="0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Battery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28250" y="3521858"/>
            <a:ext cx="1819910" cy="40674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ot="0" vertOverflow="overflow" horzOverflow="overflow" vert="horz" wrap="square" lIns="45718" tIns="45718" rIns="45718" bIns="45718" numCol="1" spcCol="38100" rtlCol="0" anchor="ctr" forceAA="0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Servo motor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85915" y="2853055"/>
            <a:ext cx="1017270" cy="29972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ot="0" vertOverflow="overflow" horzOverflow="overflow" vert="horz" wrap="square" lIns="45718" tIns="45718" rIns="45718" bIns="45718" numCol="1" spcCol="38100" rtlCol="0" anchor="ctr" forceAA="0">
            <a:no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Sensor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9735" y="3666003"/>
            <a:ext cx="1819910" cy="68360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ot="0" vertOverflow="overflow" horzOverflow="overflow" vert="horz" wrap="square" lIns="45718" tIns="45718" rIns="45718" bIns="45718" numCol="1" spcCol="38100" rtlCol="0" anchor="ctr" forceAA="0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ESP32 Cam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39735" y="4581673"/>
            <a:ext cx="1819910" cy="40674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ot="0" vertOverflow="overflow" horzOverflow="overflow" vert="horz" wrap="square" lIns="45718" tIns="45718" rIns="45718" bIns="45718" numCol="1" spcCol="38100" rtlCol="0" anchor="ctr" forceAA="0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Wi-fi/Bluetooth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39735" y="5301763"/>
            <a:ext cx="1819910" cy="40674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ot="0" vertOverflow="overflow" horzOverflow="overflow" vert="horz" wrap="square" lIns="45718" tIns="45718" rIns="45718" bIns="45718" numCol="1" spcCol="38100" rtlCol="0" anchor="ctr" forceAA="0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Handheld Device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28250" y="2781448"/>
            <a:ext cx="1819910" cy="406740"/>
          </a:xfrm>
          <a:prstGeom prst="round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dk1"/>
          </a:fontRef>
        </p:style>
        <p:txBody>
          <a:bodyPr rot="0" vertOverflow="overflow" horzOverflow="overflow" vert="horz" wrap="square" lIns="45718" tIns="45718" rIns="45718" bIns="45718" numCol="1" spcCol="38100" rtlCol="0" anchor="ctr" forceAA="0">
            <a:spAutoFit/>
          </a:bodyPr>
          <a:lstStyle/>
          <a:p>
            <a:pPr marL="0" marR="0" indent="0" algn="ctr" defTabSz="457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Calibri" panose="020F0502020204030204"/>
              </a:rPr>
              <a:t>Motor Driver</a:t>
            </a:r>
          </a:p>
        </p:txBody>
      </p:sp>
      <p:cxnSp>
        <p:nvCxnSpPr>
          <p:cNvPr id="10" name="Straight Arrow Connector 9"/>
          <p:cNvCxnSpPr>
            <a:stCxn id="3" idx="2"/>
            <a:endCxn id="2" idx="0"/>
          </p:cNvCxnSpPr>
          <p:nvPr/>
        </p:nvCxnSpPr>
        <p:spPr>
          <a:xfrm>
            <a:off x="8949690" y="2324100"/>
            <a:ext cx="0" cy="31305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11" name="Straight Arrow Connector 10"/>
          <p:cNvCxnSpPr>
            <a:stCxn id="2" idx="2"/>
            <a:endCxn id="6" idx="0"/>
          </p:cNvCxnSpPr>
          <p:nvPr/>
        </p:nvCxnSpPr>
        <p:spPr>
          <a:xfrm>
            <a:off x="8949690" y="3353435"/>
            <a:ext cx="0" cy="31242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13" name="Straight Arrow Connector 12"/>
          <p:cNvCxnSpPr>
            <a:stCxn id="6" idx="2"/>
            <a:endCxn id="7" idx="0"/>
          </p:cNvCxnSpPr>
          <p:nvPr/>
        </p:nvCxnSpPr>
        <p:spPr>
          <a:xfrm>
            <a:off x="8949690" y="4349750"/>
            <a:ext cx="0" cy="23177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14" name="Straight Arrow Connector 13"/>
          <p:cNvCxnSpPr>
            <a:stCxn id="7" idx="2"/>
            <a:endCxn id="8" idx="0"/>
          </p:cNvCxnSpPr>
          <p:nvPr/>
        </p:nvCxnSpPr>
        <p:spPr>
          <a:xfrm>
            <a:off x="8949690" y="4988560"/>
            <a:ext cx="0" cy="31305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15" name="Straight Arrow Connector 14"/>
          <p:cNvCxnSpPr>
            <a:stCxn id="2" idx="3"/>
            <a:endCxn id="9" idx="1"/>
          </p:cNvCxnSpPr>
          <p:nvPr/>
        </p:nvCxnSpPr>
        <p:spPr>
          <a:xfrm flipV="1">
            <a:off x="9859645" y="2985135"/>
            <a:ext cx="268605" cy="1016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16" name="Straight Arrow Connector 15"/>
          <p:cNvCxnSpPr>
            <a:stCxn id="9" idx="2"/>
            <a:endCxn id="4" idx="0"/>
          </p:cNvCxnSpPr>
          <p:nvPr/>
        </p:nvCxnSpPr>
        <p:spPr>
          <a:xfrm>
            <a:off x="11038205" y="3188335"/>
            <a:ext cx="0" cy="33337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cxnSp>
        <p:nvCxnSpPr>
          <p:cNvPr id="17" name="Straight Arrow Connector 16"/>
          <p:cNvCxnSpPr>
            <a:stCxn id="5" idx="3"/>
            <a:endCxn id="2" idx="1"/>
          </p:cNvCxnSpPr>
          <p:nvPr/>
        </p:nvCxnSpPr>
        <p:spPr>
          <a:xfrm flipV="1">
            <a:off x="7703185" y="2995295"/>
            <a:ext cx="336550" cy="762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arrow"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26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27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2" y="6404295"/>
            <a:ext cx="188896" cy="26923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4</a:t>
            </a:fld>
            <a:endParaRPr/>
          </a:p>
        </p:txBody>
      </p:sp>
      <p:pic>
        <p:nvPicPr>
          <p:cNvPr id="128" name="Google Shape;93;p2" descr="Google Shape;93;p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3910" y="81374"/>
            <a:ext cx="2246577" cy="11490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31" name="Oval 11"/>
          <p:cNvGrpSpPr/>
          <p:nvPr/>
        </p:nvGrpSpPr>
        <p:grpSpPr>
          <a:xfrm>
            <a:off x="329771" y="252244"/>
            <a:ext cx="1448232" cy="593911"/>
            <a:chOff x="0" y="0"/>
            <a:chExt cx="1448230" cy="593910"/>
          </a:xfrm>
        </p:grpSpPr>
        <p:sp>
          <p:nvSpPr>
            <p:cNvPr id="129" name="Oval"/>
            <p:cNvSpPr/>
            <p:nvPr/>
          </p:nvSpPr>
          <p:spPr>
            <a:xfrm>
              <a:off x="-1" y="-1"/>
              <a:ext cx="1448232" cy="593911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30" name="Techies"/>
            <p:cNvSpPr txBox="1"/>
            <p:nvPr/>
          </p:nvSpPr>
          <p:spPr>
            <a:xfrm>
              <a:off x="279670" y="130411"/>
              <a:ext cx="888887" cy="3330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r>
                <a:t>Techies</a:t>
              </a:r>
            </a:p>
          </p:txBody>
        </p:sp>
      </p:grpSp>
      <p:sp>
        <p:nvSpPr>
          <p:cNvPr id="139" name="Title 1"/>
          <p:cNvSpPr txBox="1">
            <a:spLocks noGrp="1"/>
          </p:cNvSpPr>
          <p:nvPr>
            <p:ph type="title"/>
          </p:nvPr>
        </p:nvSpPr>
        <p:spPr>
          <a:xfrm>
            <a:off x="1498600" y="382905"/>
            <a:ext cx="8374380" cy="1143000"/>
          </a:xfrm>
          <a:prstGeom prst="rect">
            <a:avLst/>
          </a:prstGeom>
        </p:spPr>
        <p:txBody>
          <a:bodyPr/>
          <a:lstStyle>
            <a:lvl1pPr>
              <a:defRPr sz="3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IMPACT AND BENEFITS</a:t>
            </a:r>
          </a:p>
        </p:txBody>
      </p:sp>
      <p:sp>
        <p:nvSpPr>
          <p:cNvPr id="142" name="TextBox 1"/>
          <p:cNvSpPr txBox="1"/>
          <p:nvPr/>
        </p:nvSpPr>
        <p:spPr>
          <a:xfrm>
            <a:off x="191135" y="1701165"/>
            <a:ext cx="5567680" cy="3963670"/>
          </a:xfrm>
          <a:prstGeom prst="rect">
            <a:avLst/>
          </a:prstGeom>
          <a:ln w="12700">
            <a:miter lim="400000"/>
          </a:ln>
        </p:spPr>
        <p:txBody>
          <a:bodyPr wrap="square" lIns="45718" tIns="45718" rIns="45718" bIns="45718">
            <a:noAutofit/>
          </a:bodyPr>
          <a:lstStyle/>
          <a:p>
            <a:pPr marL="285750" indent="-285750">
              <a:buSzPct val="100000"/>
              <a:buFont typeface="Arial" panose="020B0604020202020204"/>
              <a:buChar char="•"/>
              <a:defRPr sz="2400"/>
            </a:pPr>
            <a:r>
              <a:t>Potential Impact on the Target Audience</a:t>
            </a:r>
          </a:p>
          <a:p>
            <a:pPr marL="914400" lvl="1" indent="-457200">
              <a:buFont typeface="+mj-lt"/>
              <a:buAutoNum type="arabicPeriod"/>
              <a:defRPr sz="2400"/>
            </a:pPr>
            <a:r>
              <a:rPr sz="1900"/>
              <a:t>Improved Navigation: Excels in uneven and rugged terrains.</a:t>
            </a:r>
          </a:p>
          <a:p>
            <a:pPr marL="914400" lvl="1" indent="-457200">
              <a:buFont typeface="+mj-lt"/>
              <a:buAutoNum type="arabicPeriod"/>
              <a:defRPr sz="2400"/>
            </a:pPr>
            <a:r>
              <a:rPr sz="1900"/>
              <a:t>Operational Flexibility: Adapts to obstacles and various environments.</a:t>
            </a:r>
          </a:p>
          <a:p>
            <a:pPr marL="914400" lvl="1" indent="-457200">
              <a:buFont typeface="+mj-lt"/>
              <a:buAutoNum type="arabicPeriod"/>
              <a:defRPr sz="2400"/>
            </a:pPr>
            <a:r>
              <a:rPr sz="1900"/>
              <a:t>Increased Safety: Reduces human risk in dangerous areas through remote operation.</a:t>
            </a:r>
          </a:p>
          <a:p>
            <a:pPr marL="914400" lvl="1" indent="-457200">
              <a:buFont typeface="+mj-lt"/>
              <a:buAutoNum type="arabicPeriod"/>
              <a:defRPr sz="2400"/>
            </a:pPr>
            <a:r>
              <a:rPr sz="1900"/>
              <a:t>Cost-Effective Innovation: Utilizes affordable technologies for advanced robotics.</a:t>
            </a:r>
          </a:p>
          <a:p>
            <a:pPr marL="914400" lvl="1" indent="-457200">
              <a:buFont typeface="+mj-lt"/>
              <a:buAutoNum type="arabicPeriod"/>
              <a:defRPr sz="2400"/>
            </a:pPr>
            <a:r>
              <a:rPr sz="1900"/>
              <a:t>Foundation for Future Tech: Advances legged robotics for diverse applications.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880100" y="1662430"/>
            <a:ext cx="6096000" cy="426021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45718" tIns="45718" rIns="45718" bIns="45718" numCol="1" spcCol="38100" rtlCol="0" anchor="t" forceAA="0">
            <a:spAutoFit/>
          </a:bodyPr>
          <a:lstStyle/>
          <a:p>
            <a:pPr marL="285750" indent="-285750">
              <a:buSzPct val="100000"/>
              <a:buFont typeface="Arial" panose="020B0604020202020204"/>
              <a:buChar char="•"/>
              <a:defRPr sz="2400"/>
            </a:pPr>
            <a:r>
              <a:rPr lang="en-US">
                <a:sym typeface="+mn-ea"/>
              </a:rPr>
              <a:t>Benefits </a:t>
            </a:r>
            <a:endParaRPr>
              <a:sym typeface="+mn-ea"/>
            </a:endParaRPr>
          </a:p>
          <a:p>
            <a:pPr marL="914400" lvl="1" indent="-457200">
              <a:buFont typeface="+mj-lt"/>
              <a:buAutoNum type="arabicPeriod"/>
              <a:defRPr sz="2400"/>
            </a:pPr>
            <a:r>
              <a:rPr lang="en-US" sz="1900" b="1"/>
              <a:t>Social</a:t>
            </a:r>
          </a:p>
          <a:p>
            <a:pPr marL="1371600" lvl="2" indent="-457200">
              <a:buFont typeface="Arial" panose="020B0604020202020204" pitchFamily="34" charset="0"/>
              <a:buChar char="•"/>
              <a:defRPr sz="2400"/>
            </a:pPr>
            <a:r>
              <a:rPr sz="1900"/>
              <a:t>Enhances safety in hazardous environments.</a:t>
            </a:r>
          </a:p>
          <a:p>
            <a:pPr marL="1371600" lvl="2" indent="-457200">
              <a:buFont typeface="Arial" panose="020B0604020202020204" pitchFamily="34" charset="0"/>
              <a:buChar char="•"/>
              <a:defRPr sz="2400"/>
            </a:pPr>
            <a:r>
              <a:rPr sz="1900"/>
              <a:t>Improves accessibility for rescue and emergency missions.</a:t>
            </a:r>
          </a:p>
          <a:p>
            <a:pPr marL="914400" lvl="1" indent="-457200">
              <a:buFont typeface="+mj-lt"/>
              <a:buAutoNum type="arabicPeriod"/>
              <a:defRPr sz="2400"/>
            </a:pPr>
            <a:r>
              <a:rPr lang="en-US" sz="1900" b="1">
                <a:sym typeface="+mn-ea"/>
              </a:rPr>
              <a:t>Economic</a:t>
            </a:r>
          </a:p>
          <a:p>
            <a:pPr marL="1371600" lvl="2" indent="-457200">
              <a:buFont typeface="Arial" panose="020B0604020202020204" pitchFamily="34" charset="0"/>
              <a:buChar char="•"/>
              <a:defRPr sz="2400"/>
            </a:pPr>
            <a:r>
              <a:rPr lang="en-US" sz="1900">
                <a:sym typeface="+mn-ea"/>
              </a:rPr>
              <a:t>Cost-effective with affordable technologies.</a:t>
            </a:r>
          </a:p>
          <a:p>
            <a:pPr marL="1371600" lvl="2" indent="-457200">
              <a:buFont typeface="Arial" panose="020B0604020202020204" pitchFamily="34" charset="0"/>
              <a:buChar char="•"/>
              <a:defRPr sz="2400"/>
            </a:pPr>
            <a:r>
              <a:rPr lang="en-US" sz="1900">
                <a:sym typeface="+mn-ea"/>
              </a:rPr>
              <a:t>Versatile across multiple industries, increasing productivity.</a:t>
            </a:r>
          </a:p>
          <a:p>
            <a:pPr marL="914400" lvl="1" indent="-457200">
              <a:buFont typeface="+mj-lt"/>
              <a:buAutoNum type="arabicPeriod"/>
              <a:defRPr sz="2400"/>
            </a:pPr>
            <a:r>
              <a:rPr kumimoji="0" lang="en-US" sz="19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+mn-ea"/>
              </a:rPr>
              <a:t>Environmental</a:t>
            </a:r>
          </a:p>
          <a:p>
            <a:pPr marL="1371600" lvl="2" indent="-457200">
              <a:buFont typeface="Arial" panose="020B0604020202020204" pitchFamily="34" charset="0"/>
              <a:buChar char="•"/>
              <a:defRPr sz="2400"/>
            </a:pPr>
            <a:r>
              <a:rPr kumimoji="0" lang="en-US" sz="19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+mn-ea"/>
              </a:rPr>
              <a:t>Reduces ecological disturbance by minimizing land modification.</a:t>
            </a:r>
          </a:p>
          <a:p>
            <a:pPr marL="1371600" lvl="2" indent="-457200">
              <a:buFont typeface="Arial" panose="020B0604020202020204" pitchFamily="34" charset="0"/>
              <a:buChar char="•"/>
              <a:defRPr sz="2400"/>
            </a:pPr>
            <a:r>
              <a:rPr kumimoji="0" lang="en-US" sz="190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+mn-ea"/>
              </a:rPr>
              <a:t>More energy-efficient in navigating rough terrains.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38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40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2" y="6404295"/>
            <a:ext cx="188896" cy="26923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5</a:t>
            </a:fld>
            <a:endParaRPr/>
          </a:p>
        </p:txBody>
      </p:sp>
      <p:pic>
        <p:nvPicPr>
          <p:cNvPr id="141" name="Google Shape;93;p2" descr="Google Shape;93;p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910" y="81374"/>
            <a:ext cx="2246577" cy="11490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3" name="TextBox 2"/>
          <p:cNvSpPr txBox="1"/>
          <p:nvPr/>
        </p:nvSpPr>
        <p:spPr>
          <a:xfrm>
            <a:off x="614045" y="1875790"/>
            <a:ext cx="11301095" cy="4091305"/>
          </a:xfrm>
          <a:prstGeom prst="rect">
            <a:avLst/>
          </a:prstGeom>
          <a:ln>
            <a:solidFill>
              <a:srgbClr val="FFFFFF"/>
            </a:solidFill>
          </a:ln>
        </p:spPr>
        <p:txBody>
          <a:bodyPr wrap="square" lIns="45718" tIns="45718" rIns="45718" bIns="45718">
            <a:spAutoFit/>
          </a:bodyPr>
          <a:lstStyle/>
          <a:p>
            <a:pPr marL="342900" indent="-342900">
              <a:buSzPct val="100000"/>
              <a:buFont typeface="Arial" panose="020B0604020202020204"/>
              <a:buChar char="•"/>
              <a:defRPr sz="2400"/>
            </a:pPr>
            <a:r>
              <a:t>Analysis  of  the  Feasibility  of  the  Idea</a:t>
            </a:r>
          </a:p>
          <a:p>
            <a:pPr marL="914400" lvl="1" indent="-457200">
              <a:buAutoNum type="arabicPeriod"/>
              <a:defRPr sz="2400" b="1"/>
            </a:pPr>
            <a:r>
              <a:rPr sz="1900" b="0" i="1"/>
              <a:t>Technical</a:t>
            </a:r>
            <a:r>
              <a:rPr sz="1900" b="0"/>
              <a:t>: Readily available components but complex programming.</a:t>
            </a:r>
          </a:p>
          <a:p>
            <a:pPr marL="914400" lvl="1" indent="-457200">
              <a:buAutoNum type="arabicPeriod"/>
              <a:defRPr sz="2400" b="1"/>
            </a:pPr>
            <a:r>
              <a:rPr sz="1900" b="0" i="1"/>
              <a:t>Economic</a:t>
            </a:r>
            <a:r>
              <a:rPr sz="1900" b="0"/>
              <a:t>: Affordable for prototypes, costly for full production.</a:t>
            </a:r>
          </a:p>
          <a:p>
            <a:pPr marL="914400" lvl="1" indent="-457200">
              <a:buAutoNum type="arabicPeriod"/>
              <a:defRPr sz="2400" b="1"/>
            </a:pPr>
            <a:r>
              <a:rPr sz="1900" b="0" i="1"/>
              <a:t>Operational</a:t>
            </a:r>
            <a:r>
              <a:rPr sz="1900" b="0"/>
              <a:t>: Effective for rough terrains like rescue and industrial tasks.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 b="1"/>
            </a:pPr>
            <a:r>
              <a:rPr b="0"/>
              <a:t>Potential Challenges and Risks</a:t>
            </a:r>
          </a:p>
          <a:p>
            <a:pPr marL="914400" lvl="1" indent="-457200">
              <a:buAutoNum type="arabicPeriod"/>
              <a:defRPr sz="2400"/>
            </a:pPr>
            <a:r>
              <a:rPr sz="1900"/>
              <a:t>High production costs.</a:t>
            </a:r>
          </a:p>
          <a:p>
            <a:pPr marL="914400" lvl="1" indent="-457200">
              <a:buAutoNum type="arabicPeriod"/>
              <a:defRPr sz="2400"/>
            </a:pPr>
            <a:r>
              <a:rPr sz="1900"/>
              <a:t>Complex programming for leg movement.</a:t>
            </a:r>
          </a:p>
          <a:p>
            <a:pPr marL="914400" lvl="1" indent="-457200">
              <a:buAutoNum type="arabicPeriod"/>
              <a:defRPr sz="2400"/>
            </a:pPr>
            <a:r>
              <a:rPr sz="1900"/>
              <a:t>Power consumption and durability issues.</a:t>
            </a:r>
          </a:p>
          <a:p>
            <a:pPr marL="342900" indent="-342900">
              <a:buFont typeface="Arial" panose="020B0604020202020204" pitchFamily="34" charset="0"/>
              <a:buChar char="•"/>
              <a:defRPr sz="2400"/>
            </a:pPr>
            <a:r>
              <a:t>Strategies for Overcoming These Challenges</a:t>
            </a:r>
          </a:p>
          <a:p>
            <a:pPr marL="800100" lvl="1" indent="-342900">
              <a:buAutoNum type="arabicPeriod"/>
            </a:pPr>
            <a:r>
              <a:t>Use 3D printing and bulk purchases.</a:t>
            </a:r>
          </a:p>
          <a:p>
            <a:pPr marL="800100" lvl="1" indent="-342900">
              <a:buAutoNum type="arabicPeriod"/>
            </a:pPr>
            <a:r>
              <a:t>Apply efficient algorithms for control.</a:t>
            </a:r>
          </a:p>
          <a:p>
            <a:pPr marL="800100" lvl="1" indent="-342900">
              <a:buAutoNum type="arabicPeriod"/>
            </a:pPr>
            <a:r>
              <a:t>Optimize power use and improve durability with protective materials.</a:t>
            </a:r>
          </a:p>
          <a:p>
            <a:pPr>
              <a:defRPr sz="2000"/>
            </a:pPr>
            <a:r>
              <a:t>	</a:t>
            </a:r>
          </a:p>
        </p:txBody>
      </p:sp>
      <p:sp>
        <p:nvSpPr>
          <p:cNvPr id="144" name="Title 1"/>
          <p:cNvSpPr txBox="1"/>
          <p:nvPr/>
        </p:nvSpPr>
        <p:spPr>
          <a:xfrm>
            <a:off x="2207289" y="404249"/>
            <a:ext cx="7051972" cy="1143000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normAutofit/>
          </a:bodyPr>
          <a:lstStyle>
            <a:lvl1pPr algn="ctr">
              <a:defRPr sz="34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FEASIBILITY AND VIABILITY</a:t>
            </a:r>
          </a:p>
        </p:txBody>
      </p:sp>
      <p:grpSp>
        <p:nvGrpSpPr>
          <p:cNvPr id="147" name="Oval 8"/>
          <p:cNvGrpSpPr/>
          <p:nvPr/>
        </p:nvGrpSpPr>
        <p:grpSpPr>
          <a:xfrm>
            <a:off x="274228" y="266105"/>
            <a:ext cx="1433098" cy="610155"/>
            <a:chOff x="0" y="0"/>
            <a:chExt cx="1433096" cy="610153"/>
          </a:xfrm>
        </p:grpSpPr>
        <p:sp>
          <p:nvSpPr>
            <p:cNvPr id="145" name="Oval"/>
            <p:cNvSpPr/>
            <p:nvPr/>
          </p:nvSpPr>
          <p:spPr>
            <a:xfrm>
              <a:off x="-1" y="-1"/>
              <a:ext cx="1433098" cy="610155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46" name="Techies"/>
            <p:cNvSpPr txBox="1"/>
            <p:nvPr/>
          </p:nvSpPr>
          <p:spPr>
            <a:xfrm>
              <a:off x="276748" y="138533"/>
              <a:ext cx="879598" cy="3330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r>
                <a:t>Techies</a:t>
              </a:r>
            </a:p>
          </p:txBody>
        </p:sp>
      </p:grpSp>
      <p:pic>
        <p:nvPicPr>
          <p:cNvPr id="2097154" name="3D Model 8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 rot="780000">
            <a:off x="8400415" y="2997200"/>
            <a:ext cx="3256915" cy="2267585"/>
          </a:xfrm>
          <a:prstGeom prst="rect">
            <a:avLst/>
          </a:prstGeom>
        </p:spPr>
      </p:pic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Footer Placeholder 6"/>
          <p:cNvSpPr txBox="1"/>
          <p:nvPr/>
        </p:nvSpPr>
        <p:spPr>
          <a:xfrm>
            <a:off x="4693920" y="6404296"/>
            <a:ext cx="3112561" cy="269239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 anchor="ctr">
            <a:spAutoFit/>
          </a:bodyPr>
          <a:lstStyle>
            <a:lvl1pPr algn="ctr">
              <a:defRPr sz="1200">
                <a:solidFill>
                  <a:srgbClr val="FFFFFF"/>
                </a:solidFill>
                <a:latin typeface="TradeGothic"/>
                <a:ea typeface="TradeGothic"/>
                <a:cs typeface="TradeGothic"/>
                <a:sym typeface="TradeGothic"/>
              </a:defRPr>
            </a:lvl1pPr>
          </a:lstStyle>
          <a:p>
            <a:r>
              <a:t>@SIH Idea submission- Template</a:t>
            </a:r>
          </a:p>
        </p:txBody>
      </p:sp>
      <p:sp>
        <p:nvSpPr>
          <p:cNvPr id="162" name="Rectangle 9"/>
          <p:cNvSpPr/>
          <p:nvPr/>
        </p:nvSpPr>
        <p:spPr>
          <a:xfrm>
            <a:off x="-2" y="6354762"/>
            <a:ext cx="12192003" cy="503240"/>
          </a:xfrm>
          <a:prstGeom prst="rect">
            <a:avLst/>
          </a:prstGeom>
          <a:solidFill>
            <a:srgbClr val="0070C0"/>
          </a:solidFill>
          <a:ln w="12700">
            <a:miter lim="400000"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953735"/>
                </a:solidFill>
              </a:defRPr>
            </a:pPr>
            <a:endParaRPr/>
          </a:p>
        </p:txBody>
      </p:sp>
      <p:sp>
        <p:nvSpPr>
          <p:cNvPr id="163" name="Title 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36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defRPr>
            </a:lvl1pPr>
          </a:lstStyle>
          <a:p>
            <a:r>
              <a:t>RESEARCH  AND REFERENCES</a:t>
            </a:r>
          </a:p>
        </p:txBody>
      </p:sp>
      <p:sp>
        <p:nvSpPr>
          <p:cNvPr id="164" name="Slide Number Placeholder 5"/>
          <p:cNvSpPr txBox="1">
            <a:spLocks noGrp="1"/>
          </p:cNvSpPr>
          <p:nvPr>
            <p:ph type="sldNum" sz="quarter" idx="4294967295"/>
          </p:nvPr>
        </p:nvSpPr>
        <p:spPr>
          <a:xfrm>
            <a:off x="11393502" y="6404295"/>
            <a:ext cx="188896" cy="26923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  <a:t>6</a:t>
            </a:fld>
            <a:endParaRPr/>
          </a:p>
        </p:txBody>
      </p:sp>
      <p:pic>
        <p:nvPicPr>
          <p:cNvPr id="165" name="Google Shape;93;p2" descr="Google Shape;93;p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910" y="81374"/>
            <a:ext cx="2246577" cy="114907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grpSp>
        <p:nvGrpSpPr>
          <p:cNvPr id="168" name="Oval 8"/>
          <p:cNvGrpSpPr/>
          <p:nvPr/>
        </p:nvGrpSpPr>
        <p:grpSpPr>
          <a:xfrm>
            <a:off x="329772" y="252243"/>
            <a:ext cx="1558025" cy="807339"/>
            <a:chOff x="0" y="-1"/>
            <a:chExt cx="1558023" cy="807338"/>
          </a:xfrm>
        </p:grpSpPr>
        <p:sp>
          <p:nvSpPr>
            <p:cNvPr id="166" name="Oval"/>
            <p:cNvSpPr/>
            <p:nvPr/>
          </p:nvSpPr>
          <p:spPr>
            <a:xfrm>
              <a:off x="-1" y="-2"/>
              <a:ext cx="1558025" cy="807339"/>
            </a:xfrm>
            <a:prstGeom prst="ellipse">
              <a:avLst/>
            </a:prstGeom>
            <a:solidFill>
              <a:srgbClr val="FFFFFF"/>
            </a:solidFill>
            <a:ln w="25400" cap="flat">
              <a:solidFill>
                <a:schemeClr val="accent4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  <a:endParaRPr/>
            </a:p>
          </p:txBody>
        </p:sp>
        <p:sp>
          <p:nvSpPr>
            <p:cNvPr id="167" name="Techies"/>
            <p:cNvSpPr txBox="1"/>
            <p:nvPr/>
          </p:nvSpPr>
          <p:spPr>
            <a:xfrm>
              <a:off x="300873" y="237124"/>
              <a:ext cx="956276" cy="3330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spAutoFit/>
            </a:bodyPr>
            <a:lstStyle>
              <a:lvl1pPr algn="ctr"/>
            </a:lstStyle>
            <a:p>
              <a:r>
                <a:t>Techies</a:t>
              </a:r>
            </a:p>
          </p:txBody>
        </p:sp>
      </p:grpSp>
      <p:sp>
        <p:nvSpPr>
          <p:cNvPr id="169" name="TextBox 2"/>
          <p:cNvSpPr txBox="1"/>
          <p:nvPr/>
        </p:nvSpPr>
        <p:spPr>
          <a:xfrm>
            <a:off x="655318" y="1412874"/>
            <a:ext cx="10881364" cy="4583430"/>
          </a:xfrm>
          <a:prstGeom prst="rect">
            <a:avLst/>
          </a:prstGeom>
          <a:ln w="12700">
            <a:miter lim="400000"/>
          </a:ln>
        </p:spPr>
        <p:txBody>
          <a:bodyPr lIns="45718" tIns="45718" rIns="45718" bIns="45718">
            <a:spAutoFit/>
          </a:bodyPr>
          <a:lstStyle/>
          <a:p>
            <a:pPr>
              <a:defRPr sz="2400"/>
            </a:pPr>
            <a:r>
              <a:t>Details / Links of the references and research work</a:t>
            </a:r>
          </a:p>
          <a:p>
            <a:pPr>
              <a:defRPr sz="2400"/>
            </a:pPr>
            <a:r>
              <a:t>IEEE, IRJAEH, Science Direct</a:t>
            </a:r>
          </a:p>
          <a:p>
            <a:pPr>
              <a:defRPr sz="2400"/>
            </a:pPr>
            <a:endParaRPr/>
          </a:p>
          <a:p>
            <a:pPr marL="457200" indent="-457200">
              <a:buSzPct val="100000"/>
              <a:buAutoNum type="arabicPeriod"/>
              <a:defRPr sz="2000"/>
            </a:pPr>
            <a:r>
              <a:t>R. Teymourzadeh, Rahim Nakhli Mahal, Ng Keng Shen and Kok Wai Chan, "Adaptive intelligent spider robot," 2013 IEEE Conference on Systems, Process &amp; Control (ICSPC), Kuala Lumpur, Malaysia, 2013, pp. 310-315, doi: 10.1109/SPC.2013.6735153.</a:t>
            </a:r>
          </a:p>
          <a:p>
            <a:pPr marL="457200" indent="-457200">
              <a:buSzPct val="100000"/>
              <a:buAutoNum type="arabicPeriod"/>
              <a:defRPr sz="2000"/>
            </a:pPr>
            <a:r>
              <a:t>T. Ohnishi and T. Asakura, "On walking behavior strategy for spider-robot based on environmental information," 2004 IEEE/RSJ International Conference on Intelligent Robots and Systems (IROS) (IEEE Cat. No.04CH37566), Sendai, Japan, 2004, pp. 3406-3411 vol.4, doi: 10.1109/IROS.2004.1389943. </a:t>
            </a:r>
          </a:p>
          <a:p>
            <a:pPr marL="457200" indent="-457200">
              <a:buSzPct val="100000"/>
              <a:buAutoNum type="arabicPeriod"/>
              <a:defRPr sz="2000"/>
            </a:pPr>
            <a:r>
              <a:t>W.K.Huang, J.Xiao, F.Zeng, P.Lu, G.Lin,</a:t>
            </a:r>
            <a:r>
              <a:rPr lang="en-US"/>
              <a:t> </a:t>
            </a:r>
            <a:r>
              <a:t>W.Hu, X.Lin, and Y.Wu, “A quadruped robot with</a:t>
            </a:r>
            <a:r>
              <a:rPr lang="en-US"/>
              <a:t> </a:t>
            </a:r>
            <a:r>
              <a:t>three-dimensional flexible legs,” Sensors, 21(14),</a:t>
            </a:r>
            <a:r>
              <a:rPr lang="en-US"/>
              <a:t> </a:t>
            </a:r>
            <a:r>
              <a:t>2021, pp 1-18</a:t>
            </a:r>
          </a:p>
          <a:p>
            <a:pPr marL="457200" indent="-457200">
              <a:buSzPct val="100000"/>
              <a:buAutoNum type="arabicPeriod"/>
              <a:defRPr sz="2000"/>
            </a:pPr>
            <a:r>
              <a:t>B.Sandeep, and P.Tamil Selvan, “Design and</a:t>
            </a:r>
            <a:r>
              <a:rPr lang="en-US"/>
              <a:t> </a:t>
            </a:r>
            <a:r>
              <a:t>Development of an Autonomous Quadruped</a:t>
            </a:r>
            <a:r>
              <a:rPr lang="en-US"/>
              <a:t> </a:t>
            </a:r>
            <a:r>
              <a:t>Robot,” IOP Conference Series: Materials Science</a:t>
            </a:r>
            <a:r>
              <a:rPr lang="en-US"/>
              <a:t> </a:t>
            </a:r>
            <a:r>
              <a:t>and Engineering, 1012(1), 2021, pp. 1-20</a:t>
            </a:r>
          </a:p>
        </p:txBody>
      </p:sp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813</Words>
  <Application>Microsoft Office PowerPoint</Application>
  <PresentationFormat>Widescreen</PresentationFormat>
  <Paragraphs>112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TradeGothic</vt:lpstr>
      <vt:lpstr>Office Theme</vt:lpstr>
      <vt:lpstr>SMART INDIA HACKATHON 2024</vt:lpstr>
      <vt:lpstr>SPIDER ROBOT</vt:lpstr>
      <vt:lpstr>TECHNICAL APPROACH</vt:lpstr>
      <vt:lpstr>IMPACT AND BENEFITS</vt:lpstr>
      <vt:lpstr>PowerPoint Presentation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INDIA HACKATHON 2024</dc:title>
  <dc:creator/>
  <cp:lastModifiedBy>priyanshu Tiwari</cp:lastModifiedBy>
  <cp:revision>1</cp:revision>
  <dcterms:created xsi:type="dcterms:W3CDTF">2024-09-18T10:00:00Z</dcterms:created>
  <dcterms:modified xsi:type="dcterms:W3CDTF">2025-10-25T18:44:39Z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999F89E3B941456C8FE6825C4B94F5D6_13</vt:lpwstr>
  </property>
  <property fmtid="{D5CDD505-2E9C-101B-9397-08002B2CF9AE}" pid="3" name="KSOProductBuildVer">
    <vt:lpwstr>1033-12.2.0.13472</vt:lpwstr>
  </property>
</Properties>
</file>